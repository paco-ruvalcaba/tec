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INTRODUCCIÓN</a:t>
            </a:r>
          </a:p>
        </p:txBody>
      </p:sp>
      <p:sp>
        <p:nvSpPr>
          <p:cNvPr id="3" name="Content Placeholder 2"/>
          <p:cNvSpPr>
            <a:spLocks noGrp="1"/>
          </p:cNvSpPr>
          <p:nvPr>
            <p:ph idx="1"/>
          </p:nvPr>
        </p:nvSpPr>
        <p:spPr/>
        <p:txBody>
          <a:bodyPr/>
          <a:lstStyle/>
          <a:p>
            <a:pPr lvl="0" indent="0" marL="0">
              <a:spcBef>
                <a:spcPts val="3000"/>
              </a:spcBef>
              <a:buNone/>
            </a:pPr>
            <a:r>
              <a:rPr b="1"/>
              <a:t>Los programas de CAD/CAM contribuyen fuertemente al desarrollo de conocimiento basado en la ingeniería, ya que, en cierta manera, ejecutan la información almacenada del conocimiento.</a:t>
            </a:r>
          </a:p>
          <a:p>
            <a:pPr lvl="0" indent="0" marL="0">
              <a:spcBef>
                <a:spcPts val="3000"/>
              </a:spcBef>
              <a:buNone/>
            </a:pPr>
            <a:r>
              <a:rPr b="1"/>
              <a:t>En el presente capitulo se definen el CAD y CAM, así como otras tecnologías derivadas como el CAE, que a partir de su desarrollo a través de la informática fueron implantándose en la industria de tal forma que hoy día, no se concibe la ingeniería sin estos sistemas.</a:t>
            </a:r>
          </a:p>
          <a:p>
            <a:pPr lvl="0" indent="0" marL="0">
              <a:spcBef>
                <a:spcPts val="3000"/>
              </a:spcBef>
              <a:buNone/>
            </a:pPr>
            <a:r>
              <a:rPr b="1"/>
              <a:t>Describiremos el proceso histórico en el que se observará su desarrollo informático, las empresas que los implementan y sus usuarios finales en la industria.</a:t>
            </a:r>
          </a:p>
          <a:p>
            <a:pPr lvl="0" indent="0" marL="0">
              <a:spcBef>
                <a:spcPts val="3000"/>
              </a:spcBef>
              <a:buNone/>
            </a:pPr>
            <a:r>
              <a:rPr b="1"/>
              <a:t>Por último se analizará sus componentes esenciales y se hará un breve repaso de la situación actual en distintos campos de la técnica.</a:t>
            </a:r>
          </a:p>
          <a:p>
            <a:pPr lvl="0" indent="0" marL="0">
              <a:spcBef>
                <a:spcPts val="3000"/>
              </a:spcBef>
              <a:buNone/>
            </a:pPr>
            <a:r>
              <a:rPr b="1"/>
              <a:t># DEFINICIÓN DE LOS SISTEMAS CAD/CAM</a:t>
            </a:r>
          </a:p>
          <a:p>
            <a:pPr lvl="0" indent="0" marL="0">
              <a:spcBef>
                <a:spcPts val="3000"/>
              </a:spcBef>
              <a:buNone/>
            </a:pPr>
            <a:r>
              <a:rPr b="1"/>
              <a:t>El Diseño y la fabricación asistidos por ordenador (CAD/CAM) es una disciplina que estudia el uso de sistemas informáticos como herramienta de soporte en todos los procesos involucrados en el diseño y la fabricación de cualquier tipo de producto.</a:t>
            </a:r>
          </a:p>
          <a:p>
            <a:pPr lvl="0" indent="0" marL="0">
              <a:spcBef>
                <a:spcPts val="3000"/>
              </a:spcBef>
              <a:buNone/>
            </a:pPr>
            <a:r>
              <a:rPr b="1"/>
              <a:t>Esta disciplina se ha convertido en un requisito indispensable para la industria actual que se enfrenta a la necesidad de mejorar la calidad</a:t>
            </a:r>
          </a:p>
          <a:p>
            <a:pPr lvl="0" indent="0" marL="0">
              <a:spcBef>
                <a:spcPts val="3000"/>
              </a:spcBef>
              <a:buNone/>
            </a:pPr>
            <a:r>
              <a:rPr b="1"/>
              <a:t>El uso cooperativo de herramientas de diseño y de fabricación ha dado lugar a la aparición de una nueva tecnología denominada ‘Fabricación Integrada por Ordenador’ e incluso se habla de la ‘Gestión Integrada por Ordenador’ como el último escalón de automatización hacia el que todas las empresas deben orientar sus esfuerzos. Esta tecnología consiste en la gestión integral de todas las actividades y procesos desarrollados dentro de una empresa mediante un sistema informático.</a:t>
            </a:r>
          </a:p>
          <a:p>
            <a:pPr lvl="0" indent="0" marL="0">
              <a:spcBef>
                <a:spcPts val="3000"/>
              </a:spcBef>
              <a:buNone/>
            </a:pPr>
            <a:r>
              <a:rPr b="1"/>
              <a:t>Para llegar a este escalón sería necesario integrar, además de los procesos de diseño y fabricación, los procesos administrativos y de gestión de la empresa lo que rebasa el objetivo más modesto de este apartado que se centra en los procesos de diseño y fabricación, básicos para la gestión integrada.</a:t>
            </a:r>
          </a:p>
          <a:p>
            <a:pPr lvl="0" indent="0" marL="0">
              <a:spcBef>
                <a:spcPts val="3000"/>
              </a:spcBef>
              <a:buNone/>
            </a:pPr>
            <a:r>
              <a:rPr b="1"/>
              <a:t>CAD es el acrónimo de ‘Computer Aided Design’ o diseño asistido por computador.</a:t>
            </a:r>
          </a:p>
          <a:p>
            <a:pPr lvl="0" indent="0" marL="0">
              <a:spcBef>
                <a:spcPts val="3000"/>
              </a:spcBef>
              <a:buNone/>
            </a:pPr>
            <a:r>
              <a:rPr b="1"/>
              <a:t>Se trata de la tecnología implicada en el uso de ordenadores para realizar tareas de creación, modificación, análisis y optimización de un diseño. De esta forma, cualquier aplicación que incluya una interfaz gráfica y realice alguna tarea de ingeniería se considera software de CAD.</a:t>
            </a:r>
          </a:p>
          <a:p>
            <a:pPr lvl="0" indent="0" marL="0">
              <a:spcBef>
                <a:spcPts val="3000"/>
              </a:spcBef>
              <a:buNone/>
            </a:pPr>
            <a:r>
              <a:rPr b="1"/>
              <a:t>Las herramientas de CAD abarcan desde herramientas de modelado geométrico hasta aplicaciones a medida para el análisis u optimización de un producto especifico. Entre estos dos extremos se encuentran herramientas de modelado y análisis de tolerancias, calculo de propiedades físicas (masa, volumen, momentos, etc.), modelado y análisis de elementos finitos, ensamblado, etc.</a:t>
            </a:r>
          </a:p>
          <a:p>
            <a:pPr lvl="1" indent="0" marL="342900">
              <a:buNone/>
            </a:pPr>
            <a:r>
              <a:rPr/>
              <a:t>La función principal en estas herramientas es la definición de la geometría del diseño (pieza mecánica, arquitectura, circuito electrónico, etc.) ya que la geometría es esencial para las actividades subsecuentes en el ciclo de producto.  — La geometría de un objeto se usa en etapas posteriores en las que se realizan tareas de ingeniería y fabricación. De esta forma se habla también de Ingeniería asistida por Ordenador o Computer Aided Engineering (CAE) para referirse a las tareas de análisis, evaluación, simulación y optimización desarrolladas a lo largo del ciclo de vida del producto. — De hecho, este es el mayor de los beneficios de la tecnología CAD, la reutilización de la información creada en la etapa de síntesis en las etapas de análisis y también en el proceso CAM. — El termino CAD se puede definir como el uso de sistemas informáticos en la creación, modificación, análisis u optimización de un producto. Dichos sistemas informáticos constarían de un hardware y un software. — El termino CAM se puede definir como el uso de sistemas informáticos para la planificación, gestión y control de las operaciones de una planta de fabricación mediante una interfaz directa o indirecta entre el sistema informático y los recursos de producción. — Así pues, las aplicaciones del CAM se dividen en dos categorías: — </a:t>
            </a:r>
            <a:r>
              <a:rPr b="1"/>
              <a:t>Interfaz directa:</a:t>
            </a:r>
            <a:r>
              <a:rPr/>
              <a:t> Son aplicaciones en las que el ordenador se conecta directamente con el proceso de producción para monitorizar su actividad y realizar tareas de supervisión y control. Así pues estas aplicaciones se dividen en dos grupos:</a:t>
            </a:r>
          </a:p>
          <a:p>
            <a:pPr lvl="0"/>
            <a:r>
              <a:rPr/>
              <a:t>Supervisión: implica un flujo de datos del proceso de producción al computador con el propósito de observar el proceso y los recursos asociados y recoger datos.</a:t>
            </a:r>
          </a:p>
          <a:p>
            <a:pPr lvl="0" indent="0" marL="0">
              <a:spcBef>
                <a:spcPts val="3000"/>
              </a:spcBef>
              <a:buNone/>
            </a:pPr>
            <a:r>
              <a:rPr b="1"/>
              <a:t>Control: supone un paso más allá que la supervisión, ya que no solo se observa el proceso, sino que se ejerce un control basándose en dichas observaciones.</a:t>
            </a:r>
          </a:p>
          <a:p>
            <a:pPr lvl="0" indent="0" marL="0">
              <a:spcBef>
                <a:spcPts val="3000"/>
              </a:spcBef>
              <a:buNone/>
            </a:pPr>
            <a:r>
              <a:rPr b="1"/>
              <a:t>Interfaz indirecta: Se trata de aplicaciones en las que el ordenador se utiliza como herramienta de ayuda para la fabricación, pero en las que no existe una conexión directa con el proceso de producción.</a:t>
            </a:r>
          </a:p>
          <a:p>
            <a:pPr lvl="0" indent="0" marL="0">
              <a:spcBef>
                <a:spcPts val="3000"/>
              </a:spcBef>
              <a:buNone/>
            </a:pPr>
            <a:r>
              <a:rPr b="1"/>
              <a:t>Supervisión y control</a:t>
            </a:r>
          </a:p>
          <a:p>
            <a:pPr lvl="0" indent="0" marL="0">
              <a:spcBef>
                <a:spcPts val="3000"/>
              </a:spcBef>
              <a:buNone/>
            </a:pPr>
          </a:p>
          <a:p>
            <a:pPr lvl="0" indent="0" marL="0">
              <a:spcBef>
                <a:spcPts val="3000"/>
              </a:spcBef>
              <a:buNone/>
            </a:pPr>
            <a:r>
              <a:rPr b="1"/>
              <a:t>Una de las técnicas más utilizadas en la fase de fabricación es el Control Numérico. Se trata de la tecnología que utiliza instrucciones programadas para controlar maquinas herramienta que cortan, doblan, perforan o transforman una materia prima en un producto terminado.</a:t>
            </a:r>
          </a:p>
          <a:p>
            <a:pPr lvl="0" indent="0" marL="0">
              <a:spcBef>
                <a:spcPts val="3000"/>
              </a:spcBef>
              <a:buNone/>
            </a:pPr>
            <a:r>
              <a:rPr b="1"/>
              <a:t>Las aplicaciones informáticas son capaces de generar, de forma automática, gran cantidad de instrucciones de control numérico utilizando la información geométrica generada en la etapa de diseño junto con otra información referente a materiales, máquinas, etc. que también se encuentra en la base de datos. Los esfuerzos de investigación se concentran en la reducción de la intervención de los operarios.</a:t>
            </a:r>
          </a:p>
          <a:p>
            <a:pPr lvl="0" indent="0" marL="0">
              <a:spcBef>
                <a:spcPts val="3000"/>
              </a:spcBef>
              <a:buNone/>
            </a:pPr>
            <a:r>
              <a:rPr b="1"/>
              <a:t>Otra función significativa del CAM es la programación de robots que operan normalmente en células de fabricación seleccionando y posicionando herramientas y piezas para las máquinas de control numérico. Estos robots también pueden realizar tareas individuales tales como soldadura, pintura o transporte de equipos y piezas dentro del taller.</a:t>
            </a:r>
          </a:p>
          <a:p>
            <a:pPr lvl="0" indent="0" marL="0">
              <a:spcBef>
                <a:spcPts val="3000"/>
              </a:spcBef>
              <a:buNone/>
            </a:pPr>
            <a:r>
              <a:rPr b="1"/>
              <a:t>La planificación de procesos es la tarea clave en para conseguir la automatización deseada, sirviendo de unión entre los procesos de CAD y CAM.</a:t>
            </a:r>
          </a:p>
          <a:p>
            <a:pPr lvl="0" indent="0" marL="0">
              <a:spcBef>
                <a:spcPts val="3000"/>
              </a:spcBef>
              <a:buNone/>
            </a:pPr>
            <a:r>
              <a:rPr b="1"/>
              <a:t>El plan de procesos determina de forma detallada la secuencia de pasos de producción requeridos para fabricar y ensamblar, desde el inicio a la finalización del proceso de producción. Aunque la generación automática de planes de producción es una tarea compleja, el uso de la Tecnología de Grupos supone una gran ayuda, ya que permite generar nuevos planes a partir de los planes existentes para piezas similares.</a:t>
            </a:r>
          </a:p>
          <a:p>
            <a:pPr lvl="0" indent="0" marL="0">
              <a:spcBef>
                <a:spcPts val="3000"/>
              </a:spcBef>
              <a:buNone/>
            </a:pPr>
            <a:r>
              <a:rPr b="1"/>
              <a:t>Las piezas se organizan en familias y cada nueva pieza se clasifica dentro de una familia, según las características o los elementos que la componen. Esta tarea puede realizarse fácilmente utilizando técnicas de Modelado Basado en Características (Feature-Based Modeling) junto con la Tecnología de Grupos.</a:t>
            </a:r>
          </a:p>
          <a:p>
            <a:pPr lvl="0" indent="0" marL="0">
              <a:spcBef>
                <a:spcPts val="3000"/>
              </a:spcBef>
              <a:buNone/>
            </a:pPr>
            <a:r>
              <a:rPr b="1"/>
              <a:t>Además, los sistemas informáticos pueden usarse para determinar el aprovisionamiento de materias primas y piezas necesarias para cumplir el programa de trabajo de la manera más eficiente, minimizando los costes financieros y de almacenaje. Esta actividad se denomina Planificación de Recursos Materiales (Material Requirement Planning o MRP).</a:t>
            </a:r>
          </a:p>
          <a:p>
            <a:pPr lvl="0" indent="0" marL="0">
              <a:spcBef>
                <a:spcPts val="3000"/>
              </a:spcBef>
              <a:buNone/>
            </a:pPr>
            <a:r>
              <a:rPr b="1"/>
              <a:t>También es posible ejercer tareas de monitorización y control de la actividad de las máquinas del taller que se integran bajo el nombre de Planificación de Recursos de Manufacturación (Manufacturing Requirement Planning o MRPII).</a:t>
            </a:r>
          </a:p>
          <a:p>
            <a:pPr lvl="0" indent="0" marL="0">
              <a:spcBef>
                <a:spcPts val="3000"/>
              </a:spcBef>
              <a:buNone/>
            </a:pPr>
            <a:r>
              <a:rPr b="1"/>
              <a:t>La Ingeniería Asistida por Ordenador (Computer Aided Engineering o CAE) es la tecnología que se ocupa del uso de sistemas informáticos para analizar la geometría generada por las aplicaciones de CAD, permitiendo al diseñador simular y estudiar el comportamiento del producto para refinar y optimizar dicho diseño.</a:t>
            </a:r>
          </a:p>
          <a:p>
            <a:pPr lvl="0" indent="0" marL="0">
              <a:spcBef>
                <a:spcPts val="3000"/>
              </a:spcBef>
              <a:buNone/>
            </a:pPr>
            <a:r>
              <a:rPr b="1"/>
              <a:t>Existen herramientas para un amplio rango de análisis. Los programas de cinemática, por ejemplo, pueden usarse para determinar trayectorias de movimiento y velocidades de ensamblado de mecanismos.</a:t>
            </a:r>
          </a:p>
          <a:p>
            <a:pPr lvl="0" indent="0" marL="0">
              <a:spcBef>
                <a:spcPts val="3000"/>
              </a:spcBef>
              <a:buNone/>
            </a:pPr>
            <a:r>
              <a:rPr b="1"/>
              <a:t>Los programas de análisis dinámico de (grandes) desplazamientos se usan para determinar cargas y desplazamientos en productos complejos como los automóviles.</a:t>
            </a:r>
          </a:p>
          <a:p>
            <a:pPr lvl="0" indent="0" marL="0">
              <a:spcBef>
                <a:spcPts val="3000"/>
              </a:spcBef>
              <a:buNone/>
            </a:pPr>
            <a:r>
              <a:rPr b="1"/>
              <a:t>Las aplicaciones de temporización lógica y verificación simulan el comportamiento de circuitos electrónicos complejos.</a:t>
            </a:r>
          </a:p>
          <a:p>
            <a:pPr lvl="0" indent="0" marL="0">
              <a:spcBef>
                <a:spcPts val="3000"/>
              </a:spcBef>
              <a:buNone/>
            </a:pPr>
            <a:r>
              <a:rPr b="1"/>
              <a:t>El método de análisis por ordenador más ampliamente usado en ingeniería es el método de elementos finitos o FEM (de Finite Element Method). Se utiliza para determinar tensiones, deformaciones, transmisión de calor, distribución de campos magnéticos, flujo de fluidos y cualquier otro problema de campos continuos que serían prácticamente imposibles de resolver utilizando otros métodos. En este método, la estructura se representa por un modelo de análisis constituido de elementos interconectados que dividen el problema en elementos manejables por el ordenador</a:t>
            </a:r>
          </a:p>
          <a:p>
            <a:pPr lvl="0" indent="0" marL="0">
              <a:spcBef>
                <a:spcPts val="3000"/>
              </a:spcBef>
              <a:buNone/>
            </a:pPr>
            <a:r>
              <a:rPr b="1"/>
              <a:t>Como se ha mencionado anteriormente, el método de elementos finitos requiere más un modelo abstracto de descomposición espacial que la propia geometría del diseño.</a:t>
            </a:r>
          </a:p>
          <a:p>
            <a:pPr lvl="0" indent="0" marL="0">
              <a:spcBef>
                <a:spcPts val="3000"/>
              </a:spcBef>
              <a:buNone/>
            </a:pPr>
            <a:r>
              <a:rPr b="1"/>
              <a:t>Dicho modelo se obtiene eliminando los detalles innecesarios de dicha geometría o reduciendo el número de dimensiones. Por ejemplo, un objeto tridimensional de poco espesor se puede convertir en un objeto bidimensional cuando se hace la conversión al modelo de análisis. Por tanto, es necesario generar dicho modelo abstracto de forma interactiva o automática para poder aplicar el método de elementos finitos. Una vez creado dicho modelo, se genera la malla de elementos finitos para poder aplicar el método. Al software que se encarga de generar el modelo abstracto y la malla de elementos finitos se le denomina pre-procesador. Después de realizar el análisis de cada elemento, el ordenador ensambla los resultados y los visualiza. Las regiones con gran tensión se destacan, por ejemplo, mostrándose en color rojo. Las herramientas que realizan este tipo de visualización se denominan post-procesadores.</a:t>
            </a:r>
          </a:p>
          <a:p>
            <a:pPr lvl="0" indent="0" marL="0">
              <a:spcBef>
                <a:spcPts val="3000"/>
              </a:spcBef>
              <a:buNone/>
            </a:pPr>
            <a:r>
              <a:rPr b="1"/>
              <a:t>Existen también numerosas herramientas para la optimización de diseños. Se están realizando investigaciones para determinar automáticamente la forma de un diseño, integrando el análisis y la optimización. Para ello se asume que el diseño tiene una forma inicial simple a partir de la cual el procedimiento de optimización calcula los valores óptimos de ciertos parámetros para satisfacer un cierto criterio al mismo tiempo que se cumplen unas restricciones, obteniéndose la forma óptima con dicho parámetros. La ventaja del análisis y optimización de diseños es que permite a los ingenieros determinar cómo se va a comportar el diseño y eliminar errores sin la necesidad gastar tiempo y dinero construyendo y evaluando prototipos reales. Ya que el coste de reingeniería crece exponencialmente en las últimas etapas del desarrollo de un producto y en la producción, la optimización temprana que permiten las herramientas CAE supone un gran ahorro de tiempo y una notable disminución de costes.</a:t>
            </a:r>
          </a:p>
          <a:p>
            <a:pPr lvl="0" indent="0" marL="0">
              <a:spcBef>
                <a:spcPts val="3000"/>
              </a:spcBef>
              <a:buNone/>
            </a:pPr>
            <a:r>
              <a:rPr b="1"/>
              <a:t>Así pues, CAD; CAM y CAE son tecnologías que tratan de automatizar ciertas tareas del ciclo de producto y hacerlas más eficientes. Dado que se han desarrollado de forma separada, aun no se han conseguido todos los beneficios potenciales de integrar las actividades de diseño y fabricación del ciclo de producto. Para solucionar este problema ha aparecido una nueva tecnología: la fabricación integrada por ordenador o CIM (de Computer Integrated Manufacturing). Esta tecnología tiene el objetivo de aunar las islas de automatización conjuntándolas para que cooperen en un sistema único y eficiente. El CIM trata de usar una única base de datos que integre toda la información de la empresa y a partir de la cual se pueda realizar una gestión integral de todas las actividades de la misma, repercutiendo sobre todas las actividades de administración y gestión que se realicen en la empresa, además de las tareas de ingeniería propias del CAD y el CAM.</a:t>
            </a:r>
          </a:p>
          <a:p>
            <a:pPr lvl="0" indent="0" marL="0">
              <a:spcBef>
                <a:spcPts val="3000"/>
              </a:spcBef>
              <a:buNone/>
            </a:pPr>
            <a:r>
              <a:rPr b="1"/>
              <a:t>Se dice que el CIM es más una filosofía de negocio que un sistema informático. El CIM sobrepasa los objetivos de este proyecto ya que integra conceptos de administración y gestión empresarial que no estudiaremos.</a:t>
            </a:r>
          </a:p>
          <a:p>
            <a:pPr lvl="0" indent="0" marL="0">
              <a:spcBef>
                <a:spcPts val="3000"/>
              </a:spcBef>
              <a:buNone/>
            </a:pPr>
            <a:r>
              <a:rPr b="1"/>
              <a:t># CAD/CAM EN EL PROCESO DE DISEÑO Y FABRICACIÓN</a:t>
            </a:r>
          </a:p>
          <a:p>
            <a:pPr lvl="0" indent="0" marL="0">
              <a:spcBef>
                <a:spcPts val="3000"/>
              </a:spcBef>
              <a:buNone/>
            </a:pPr>
            <a:r>
              <a:rPr b="1"/>
              <a:t>DESARROLLO HISTÓRICO</a:t>
            </a:r>
          </a:p>
          <a:p>
            <a:pPr lvl="0" indent="0" marL="0">
              <a:spcBef>
                <a:spcPts val="3000"/>
              </a:spcBef>
              <a:buNone/>
            </a:pPr>
            <a:r>
              <a:rPr b="1"/>
              <a:t>En la historia del CAD/CAM, se pueden encontrar precursores de estas técnicas en dibujos de civilizaciones antiguas como Egipto Grecia o Roma. Los trabajos de Leonardo da Vinci muestran técnicas CAD actuales como el uso de perspectivas. Sin embargo, el desarrollo de estas técnicas está ligado a la evolución de los ordenadores que se produce a partir de los años 50.</a:t>
            </a:r>
          </a:p>
          <a:p>
            <a:pPr lvl="0" indent="0" marL="0">
              <a:spcBef>
                <a:spcPts val="3000"/>
              </a:spcBef>
              <a:buNone/>
            </a:pPr>
            <a:r>
              <a:rPr b="1"/>
              <a:t>Hace tan sólo 25 años, casi todos los dibujos se ejecutaban utilizando lápiz y papel. Cuando se precisaba realizar cambios, era necesario borrar y volver a dibujar. Si el cambio era importante, se repetía el dibujo por completo. Si un cambio afectaba a otros documentos (planos de montaje, planos de conjunto, etc…) se tenía que buscar a mano en cada uno de ellos y modificarlos.</a:t>
            </a:r>
          </a:p>
          <a:p>
            <a:pPr lvl="0" indent="0" marL="0">
              <a:spcBef>
                <a:spcPts val="3000"/>
              </a:spcBef>
              <a:buNone/>
            </a:pPr>
            <a:r>
              <a:rPr b="1"/>
              <a:t>El diseño asistido por ordenador (Computer Aided Design–CAD) ha modificado este método de trabajo, mejorando la forma en que se llevan a cabo las tareas de diseño. Siendo originalmente una herramienta de dibujo 2D, ha evolucionado en el tiempo a la fase intermedia de 2,5D, hasta la fase 3D y la realidad virtual.</a:t>
            </a:r>
          </a:p>
          <a:p>
            <a:pPr lvl="0" indent="0" marL="0">
              <a:spcBef>
                <a:spcPts val="3000"/>
              </a:spcBef>
              <a:buNone/>
            </a:pPr>
            <a:r>
              <a:rPr b="1"/>
              <a:t>Los beneficios no se han limitado a la obtención de una potente herramienta de dibujo que permite mejorar la calidad y la productividad, sino que también se obtienen otros beneficios. En paralelo al desarrollo de las aplicaciones de diseño asistido por ordenador, se han desarrollado también otras de simulación, modelización y manufactura de productos (Computer Aided Manufacturing-CAM). La fabricación asistida por ordenador ofrece significativas ventajas con respecto a los métodos más tradicionales de control de equipos de fabricación. Por lo general, los equipos CAM conllevan la eliminación de los errores del operador y la reducción de los costes de mano de obra. Esta evolución, ha ido paralela al aumento de la capacidad de proceso y a la facilidad de uso de los ordenadores, avanzando notablemente desde la llegada de los PCs.</a:t>
            </a:r>
          </a:p>
          <a:p>
            <a:pPr lvl="0" indent="0" marL="0">
              <a:spcBef>
                <a:spcPts val="3000"/>
              </a:spcBef>
              <a:buNone/>
            </a:pPr>
            <a:r>
              <a:rPr b="1"/>
              <a:t>A principios de la década # 1950 aparece la primera pantalla gráfica en el MIT capaz de representar dibujos simples de forma no interactiva. En esta época y también en el MIT se desarrolla el concepto de programación de control numérico. A mediados de esta década aparece el lápiz óptico que supone el inicio de los gráficos interactivos. A finales de la década aparecen las primeras máquinas herramienta y General Motors comienza a usar técnicas basadas en el uso interactivo de gráficos para sus diseños.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1955</a:t>
            </a:r>
          </a:p>
        </p:txBody>
      </p:sp>
      <p:sp>
        <p:nvSpPr>
          <p:cNvPr id="3" name="Content Placeholder 2"/>
          <p:cNvSpPr>
            <a:spLocks noGrp="1"/>
          </p:cNvSpPr>
          <p:nvPr>
            <p:ph idx="1"/>
          </p:nvPr>
        </p:nvSpPr>
        <p:spPr/>
        <p:txBody>
          <a:bodyPr/>
          <a:lstStyle/>
          <a:p>
            <a:pPr lvl="0"/>
            <a:r>
              <a:rPr/>
              <a:t>El primer sistema gráfico SAGE (Semi Automatic Ground Environment) de la Fuerzas aéreas norteamericanas (US Air Forces), es desarrollado en el Lincoln Laboratory del MIT (Massachusetts Institute of Technology). Consistía en un sistema para mostrar la información computada por el radar junto con otras informaciones de localización de objetos mostrándolos a través de una pantalla CTR.</a:t>
            </a:r>
          </a:p>
          <a:p>
            <a:pPr lvl="0" indent="0" marL="0">
              <a:spcBef>
                <a:spcPts val="3000"/>
              </a:spcBef>
              <a:buNone/>
            </a:pPr>
            <a:r>
              <a:rPr b="1"/>
              <a:t>La década de los 60 representa un periodo crucial para el desarrollo de los gráficos por ordenador. Aparece el termino CAD y varios grupos de investigación dedican gran esfuerzo a estas técnicas. Fruto de este esfuerzo es la aparición de unos pocos sistemas de CAD. Un hecho determinante de este periodo es la aparición comercial de pantallas de ordenador.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1962</a:t>
            </a:r>
          </a:p>
        </p:txBody>
      </p:sp>
      <p:sp>
        <p:nvSpPr>
          <p:cNvPr id="3" name="Content Placeholder 2"/>
          <p:cNvSpPr>
            <a:spLocks noGrp="1"/>
          </p:cNvSpPr>
          <p:nvPr>
            <p:ph idx="1"/>
          </p:nvPr>
        </p:nvSpPr>
        <p:spPr/>
        <p:txBody>
          <a:bodyPr/>
          <a:lstStyle/>
          <a:p>
            <a:pPr lvl="0"/>
            <a:r>
              <a:rPr/>
              <a:t>Se desarrolla también en el Lincoln Laboratory del MIT el sistema SKETCHPAD.</a:t>
            </a:r>
          </a:p>
          <a:p>
            <a:pPr lvl="0"/>
            <a:r>
              <a:rPr/>
              <a:t>La tesis ” A Machines Graphics Comunications System” establece las bases de los gráficos interactivos por ordenador tal y como hoy los conocemos. Sutherland propuso la idea de utilizar un teclado y un lápiz óptico para seleccionar situar y dibujar, conjuntamente con una imagen representada en la pantalla.</a:t>
            </a:r>
          </a:p>
          <a:p>
            <a:pPr lvl="0"/>
            <a:r>
              <a:rPr/>
              <a:t>Aun más innovadora, era la estructura de datos utilizada por Sutherland. A diferencia de todo lo que se había hecho hasta entonces, estaba basada en la topología del objeto que iba a representar, es decir describía con toda exactitud las relaciones entre las diferentes partes que lo componía, introduciendo así, lo que conoce como Programación orientada a Objetos.</a:t>
            </a:r>
          </a:p>
          <a:p>
            <a:pPr lvl="0"/>
            <a:r>
              <a:rPr/>
              <a:t>Antes de esto, las representaciones visuales de un objeto realizadas en el ordenador, se habían basado en un dibujo y no en el objeto en sí mismo. Con el sistema Sketchpad de Sutherland, se trazaba una clara distinción entre el modelo representado en la estructura de datos y el dibujo que se veía en la pantalla.</a:t>
            </a:r>
          </a:p>
          <a:p>
            <a:pPr lvl="0"/>
            <a:r>
              <a:rPr/>
              <a:t>Otros proyectos paralelos se desarrollaban en ITEK y General Motors. El proyecto de ITEK se llamaba The Electronic Drafting Machine (La máquina electrónica de dibujo) y la entrada de datos se realizaba con un lápiz de luz electrónico.</a:t>
            </a:r>
          </a:p>
          <a:p>
            <a:pPr lvl="0" indent="0" marL="0">
              <a:spcBef>
                <a:spcPts val="3000"/>
              </a:spcBef>
              <a:buNone/>
            </a:pPr>
            <a:r>
              <a:rPr b="1"/>
              <a:t>Al principio los primeros programas de CAD consistían en simples algoritmos para mostrar modelos de líneas en dos dimensiones.</a:t>
            </a:r>
          </a:p>
          <a:p>
            <a:pPr lvl="0" indent="0" marL="0">
              <a:spcBef>
                <a:spcPts val="3000"/>
              </a:spcBef>
              <a:buNone/>
            </a:pPr>
            <a:r>
              <a:rPr b="1"/>
              <a:t>1963</a:t>
            </a:r>
          </a:p>
          <a:p>
            <a:pPr lvl="0"/>
            <a:r>
              <a:rPr/>
              <a:t>El sistema Sketchpad introducido en las universidades causa gran expectación.</a:t>
            </a:r>
          </a:p>
          <a:p>
            <a:pPr lvl="0"/>
            <a:r>
              <a:rPr/>
              <a:t>Quizás lo más interesante fuera la demostración de que el ordenador podía calcular que líneas eran las que definían la parte vista del objeto al tiempo que borraba de la pantalla el resto.</a:t>
            </a:r>
          </a:p>
          <a:p>
            <a:pPr lvl="0"/>
            <a:r>
              <a:rPr/>
              <a:t>Las líneas ocultas permanecían en la memoria del ordenador, en la base de datos, y volvían a aparecer cada vez que se colocaba el cuerpo en una posición distinta respecto al observador. Las limitaciones del sistema provenían más de la capacidad del ordenador que del principio conceptual como tal.</a:t>
            </a:r>
          </a:p>
          <a:p>
            <a:pPr lvl="0"/>
            <a:r>
              <a:rPr/>
              <a:t>El Prof. Charles Eastman de Carnegie-Mellon University desarrolla BDS (Building Descripcion System). Estaba basado en una librería de cientos de miles de elementos arquitectónicos, los cuales, pueden ser ensamblados y mostrar sobre la pantalla un diseño arquitectónico completo.</a:t>
            </a:r>
          </a:p>
          <a:p>
            <a:pPr lvl="0"/>
            <a:r>
              <a:rPr/>
              <a:t>A mediados de los 60 la industria del CAD se caracteriza por utilizar grandes computadores, terminales de representación vectorial y programas desarrollados en lenguaje ensamblador. # 1965</a:t>
            </a:r>
          </a:p>
          <a:p>
            <a:pPr lvl="0"/>
            <a:r>
              <a:rPr/>
              <a:t>El único intento significativo de crear un sistemas de CAD comercial lo realiza Control Data Corporation’s Digigraphics division, sucesora de ITEK. El sistema costaba medio millón de dólares y se vendieron muy pocas unidades.</a:t>
            </a:r>
          </a:p>
          <a:p>
            <a:pPr lvl="0"/>
            <a:r>
              <a:rPr/>
              <a:t>El Prof. J. F. Baker Jefe del Cambridge University Engineering Department, inicia las investigaciones en Europa trabajando con un ordenador gráfico PDP11. A. R. Forrest realiza el primer estudio de investigación con un CAD, realizando intersección de dos cilindros.</a:t>
            </a:r>
          </a:p>
          <a:p>
            <a:pPr lvl="0" indent="0" marL="0">
              <a:spcBef>
                <a:spcPts val="3000"/>
              </a:spcBef>
              <a:buNone/>
            </a:pPr>
            <a:r>
              <a:rPr b="1"/>
              <a:t>Lockheed anuncia CADAM (Computer Augmented Design and Manufacturing).</a:t>
            </a:r>
          </a:p>
          <a:p>
            <a:pPr lvl="0" indent="0" marL="0">
              <a:spcBef>
                <a:spcPts val="3000"/>
              </a:spcBef>
              <a:buNone/>
            </a:pPr>
            <a:r>
              <a:rPr b="1"/>
              <a:t>1968</a:t>
            </a:r>
          </a:p>
          <a:p>
            <a:pPr lvl="0" indent="0" marL="0">
              <a:spcBef>
                <a:spcPts val="3000"/>
              </a:spcBef>
              <a:buNone/>
            </a:pPr>
            <a:r>
              <a:rPr b="1"/>
              <a:t>Durante este año pensaban que los ordenadores podrían ayudar a los diseñadores a resolver los problemas del modelado de formas complejas en 3D; cuando en ese momento solamente había disponibles sistemas 2D básicos utilizables desde terminales conectados a un gran ordenador central. Donal Welbourn, responsable de la cooperación industrial de la Universidad de Cambridge, consigue el patrocinio de Control Data. Ofreciendo así, ambas entidades en colaboración, DUCT, que en un principio consistía simplemente en utilidades para oficina, especialmente orientado a sus dos grandes clientes alemanes Volkswagen y Daimler Benz.</a:t>
            </a:r>
          </a:p>
          <a:p>
            <a:pPr lvl="0" indent="0" marL="0">
              <a:spcBef>
                <a:spcPts val="3000"/>
              </a:spcBef>
              <a:buNone/>
            </a:pPr>
            <a:r>
              <a:rPr b="1"/>
              <a:t>1969</a:t>
            </a:r>
          </a:p>
          <a:p>
            <a:pPr lvl="0"/>
            <a:r>
              <a:rPr/>
              <a:t>Se funda Computervision, compañía creada para el desarrollo de sistemas de producción de dibujos. En el mismo año venden el primer sistema comercial de CAD a Xerox y se desarrolla el primer plotter</a:t>
            </a:r>
          </a:p>
          <a:p>
            <a:pPr lvl="0"/>
            <a:r>
              <a:rPr/>
              <a:t>En la década de los 70 se consolidan las investigaciones anteriores y la industria se percata del potencial del uso de estas técnicas, lo que lanza definitivamente la implantación y uso de estos sistemas, limitada por la capacidad de los ordenadores de esta época. Aparecen los primeros sistemas 3D (prototipos), sistemas de modelado de elementos finitos, control numérico, etc. Hechos relevantes de esta década son, entre otros, la celebración del primer SIGGRAPH y la aparición de IGES. # 1970</a:t>
            </a:r>
          </a:p>
          <a:p>
            <a:pPr lvl="0"/>
            <a:r>
              <a:rPr/>
              <a:t>Varias compañías empiezan a ofrecer sistemas automatizados de dibujo y diseño. Muchas de estas empresas son realmente empresas orientadas a otros sectores, pero empiezan a emigrar a la industria gráfica, bien completamente, bien algún departamento de nueva creación. Encontramos así a empresas como Applicon, Colma, Auto-trol. También hubo un importante desarrollo en la mayoría de las empresas aeronáuticas y de automoción, tales como General Motors, Ford, Chrysler y Lockheed; que se pusieron a trabajar intensamente en el CAD/CAM. # 1971</a:t>
            </a:r>
          </a:p>
          <a:p>
            <a:pPr lvl="0"/>
            <a:r>
              <a:rPr/>
              <a:t>Se funda Manufacturing and Consulting Services Inc. y empieza aproducir Arvil Express. Su fundador era diseñador en General Motors de DAC (Design Auntomated by computer, diseño automatizado por computadora), el primer sistema de producción de gráficos interactivos para la fabricación.</a:t>
            </a:r>
          </a:p>
          <a:p>
            <a:pPr lvl="0"/>
            <a:r>
              <a:rPr/>
              <a:t>Mientras tanto Control Data se interesa por su colaboración con Cambridge, viendo en ella la posibilidad de creación de mallados para elementos finitos.</a:t>
            </a:r>
          </a:p>
          <a:p>
            <a:pPr lvl="0"/>
            <a:r>
              <a:rPr/>
              <a:t>Por otro lado ante la posibilidad de que el consejo de investigación de la universidad bloquease el programa de desarrollo de DUCT, porque la industria opinaba que era un sistema que requería aún mucho más desarrollo; Welbourn se dedica a probar el programa y desarrollar un completo manual de instrucciones.</a:t>
            </a:r>
          </a:p>
          <a:p>
            <a:pPr lvl="0" indent="0" marL="0">
              <a:spcBef>
                <a:spcPts val="3000"/>
              </a:spcBef>
              <a:buNone/>
            </a:pPr>
            <a:r>
              <a:rPr b="1"/>
              <a:t>Este manual fue la causa de que finalmente Volkswagen y Daimler Benz compraran la licencia de DUCT, ya que opinaban que jamás se habían escrito instrucciones tan claras por parte de ninguna compañía.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1972</a:t>
            </a:r>
          </a:p>
        </p:txBody>
      </p:sp>
      <p:sp>
        <p:nvSpPr>
          <p:cNvPr id="3" name="Content Placeholder 2"/>
          <p:cNvSpPr>
            <a:spLocks noGrp="1"/>
          </p:cNvSpPr>
          <p:nvPr>
            <p:ph idx="1"/>
          </p:nvPr>
        </p:nvSpPr>
        <p:spPr/>
        <p:txBody>
          <a:bodyPr/>
          <a:lstStyle/>
          <a:p>
            <a:pPr lvl="0" indent="0" marL="0">
              <a:spcBef>
                <a:spcPts val="3000"/>
              </a:spcBef>
              <a:buNone/>
            </a:pPr>
            <a:r>
              <a:rPr b="1"/>
              <a:t>CUED (Cambridge University Engineering Department) consigue obtener dos máquinas de control numérico de 3 ejes, permitiendo utilizar todo el trabajo realizado para el CAD en el CAM. Poco después en una exhibición de máquinas herramientas realizan la primera demostración en público de un sistema CAD/CAM 3D.</a:t>
            </a:r>
          </a:p>
          <a:p>
            <a:pPr lvl="0" indent="0" marL="0">
              <a:spcBef>
                <a:spcPts val="3000"/>
              </a:spcBef>
              <a:buNone/>
            </a:pPr>
            <a:r>
              <a:rPr b="1"/>
              <a:t>1974</a:t>
            </a:r>
          </a:p>
          <a:p>
            <a:pPr lvl="0" indent="0" marL="0">
              <a:spcBef>
                <a:spcPts val="3000"/>
              </a:spcBef>
              <a:buNone/>
            </a:pPr>
            <a:r>
              <a:rPr b="1"/>
              <a:t>Múltiples empresas se interesan en la creación de piezas usando un sistema CAD/CAM.</a:t>
            </a:r>
          </a:p>
          <a:p>
            <a:pPr lvl="0" indent="0" marL="0">
              <a:spcBef>
                <a:spcPts val="3000"/>
              </a:spcBef>
              <a:buNone/>
            </a:pPr>
            <a:r>
              <a:rPr b="1"/>
              <a:t>1975</a:t>
            </a:r>
          </a:p>
          <a:p>
            <a:pPr lvl="0"/>
            <a:r>
              <a:rPr/>
              <a:t>Se funda Electronic Data System (EDS)</a:t>
            </a:r>
          </a:p>
          <a:p>
            <a:pPr lvl="0"/>
            <a:r>
              <a:rPr/>
              <a:t>Tektronix desarrolla la primera pantalla de # 19”. Supone un gran avance, ya que permiten representar dibujos mayores que las pantallas originarias de tan sólo 11 pulgadas.</a:t>
            </a:r>
          </a:p>
          <a:p>
            <a:pPr lvl="0" indent="0" marL="0">
              <a:spcBef>
                <a:spcPts val="3000"/>
              </a:spcBef>
              <a:buNone/>
            </a:pPr>
            <a:r>
              <a:rPr b="1"/>
              <a:t>Avions Marcel Dassault (AMD) compra licencias del software CADAM a Lockheed, convirtiéndose en el primer cliente del sistema CADAM.</a:t>
            </a:r>
          </a:p>
          <a:p>
            <a:pPr lvl="0" indent="0" marL="0">
              <a:spcBef>
                <a:spcPts val="3000"/>
              </a:spcBef>
              <a:buNone/>
            </a:pPr>
            <a:r>
              <a:rPr b="1"/>
              <a:t>1976</a:t>
            </a:r>
          </a:p>
          <a:p>
            <a:pPr lvl="0"/>
            <a:r>
              <a:rPr/>
              <a:t>United Computing, empresa desarrolladora de “Unigraphics CAD/CAM/CAE system”, es comprada por Mc Donnell Douglas. # 1977</a:t>
            </a:r>
          </a:p>
          <a:p>
            <a:pPr lvl="0"/>
            <a:r>
              <a:rPr/>
              <a:t>Avions Marcel Dassault encarga a sus ingenieros la creación de un programa tridimensional e interactivo, el precursor de CATIA (Computer-Aided ThreeDimensional Interactive Application). Pasan así al modelado 3D.</a:t>
            </a:r>
          </a:p>
          <a:p>
            <a:pPr lvl="0" indent="0" marL="0">
              <a:spcBef>
                <a:spcPts val="3000"/>
              </a:spcBef>
              <a:buNone/>
            </a:pPr>
            <a:r>
              <a:rPr b="1"/>
              <a:t>Se crea DELTA TECHNICAL SERVICES en la Cambridge University</a:t>
            </a:r>
          </a:p>
          <a:p>
            <a:pPr lvl="0" indent="0" marL="0">
              <a:spcBef>
                <a:spcPts val="3000"/>
              </a:spcBef>
              <a:buNone/>
            </a:pPr>
            <a:r>
              <a:rPr b="1"/>
              <a:t>1978</a:t>
            </a:r>
          </a:p>
          <a:p>
            <a:pPr lvl="0" indent="0" marL="0">
              <a:spcBef>
                <a:spcPts val="3000"/>
              </a:spcBef>
              <a:buNone/>
            </a:pPr>
            <a:r>
              <a:rPr b="1"/>
              <a:t>Computervision desarrolla el primer terminal gráfico que utiliza la tecnología raster</a:t>
            </a:r>
          </a:p>
          <a:p>
            <a:pPr lvl="0" indent="0" marL="0">
              <a:spcBef>
                <a:spcPts val="3000"/>
              </a:spcBef>
              <a:buNone/>
            </a:pPr>
            <a:r>
              <a:rPr b="1"/>
              <a:t>1979</a:t>
            </a:r>
          </a:p>
          <a:p>
            <a:pPr lvl="0"/>
            <a:r>
              <a:rPr/>
              <a:t>Boeing, General Electric y NIST desarrollan un formato de archivo neutral para el intercambio de información CAD/CAM entre sistemas distintos. El formato IGES (Initial Graphic Exchange Standard, estándar inicial de intercambio de gráficos), se convertirá en el formato estándar de la industria y el más ampliamente aceptado para transferir información de superficies complejas.</a:t>
            </a:r>
          </a:p>
          <a:p>
            <a:pPr lvl="0"/>
            <a:r>
              <a:rPr/>
              <a:t>Cymap, empieza a desarrollar un software para dibujos de instalaciones eléctricas y de HVAC (heating, ventilation, air-conditioning; calefacción, ventilación y aire acondicionado).</a:t>
            </a:r>
          </a:p>
          <a:p>
            <a:pPr lvl="0" indent="0" marL="0">
              <a:buNone/>
            </a:pPr>
            <a:r>
              <a:rPr/>
              <a:t>A finales de los 70 el típico sistema de CAD está constituido por un microordenador de 16 bits con un máximo de 512 Kb de memoria y sistema de almacenamiento con una capacidad de 20 a 300 Mb; a un precio de unos 125000 dólares con primeros programas de modelado sólido. Estos utilizan geometrías básicas, como esferas, cilindros y paralelepípedos; combinándolas utilizando operaciones booleanas.</a:t>
            </a:r>
          </a:p>
          <a:p>
            <a:pPr lvl="0" indent="0" marL="0">
              <a:spcBef>
                <a:spcPts val="3000"/>
              </a:spcBef>
              <a:buNone/>
            </a:pPr>
            <a:r>
              <a:rPr b="1"/>
              <a:t>En la década de los 80 se generaliza el uso de las técnicas CAD/CAM propiciada por los avances en hardware y la aparición de aplicaciones en 3D capaces de manejar superficies complejas y modelado sólido. Aparecen multitud de aplicaciones en todos los campos de la industria que usan técnicas de CAD/CAM, y se empieza a hablar de realidad virtual.</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1980</a:t>
            </a:r>
          </a:p>
        </p:txBody>
      </p:sp>
      <p:sp>
        <p:nvSpPr>
          <p:cNvPr id="3" name="Content Placeholder 2"/>
          <p:cNvSpPr>
            <a:spLocks noGrp="1"/>
          </p:cNvSpPr>
          <p:nvPr>
            <p:ph idx="1"/>
          </p:nvPr>
        </p:nvSpPr>
        <p:spPr/>
        <p:txBody>
          <a:bodyPr/>
          <a:lstStyle/>
          <a:p>
            <a:pPr lvl="0"/>
            <a:r>
              <a:rPr/>
              <a:t>Matra Datavision es fundada, como parte de Lagardene Group, y comienza a producir software CAD/CAM.</a:t>
            </a:r>
          </a:p>
          <a:p>
            <a:pPr lvl="0" indent="0" marL="0">
              <a:spcBef>
                <a:spcPts val="3000"/>
              </a:spcBef>
              <a:buNone/>
            </a:pPr>
            <a:r>
              <a:rPr b="1"/>
              <a:t>Se crea la empresa española INVESTRONICA, con desarrollos CAD y CAM para la industria textil.</a:t>
            </a:r>
          </a:p>
          <a:p>
            <a:pPr lvl="0" indent="0" marL="0">
              <a:spcBef>
                <a:spcPts val="3000"/>
              </a:spcBef>
              <a:buNone/>
            </a:pPr>
            <a:r>
              <a:rPr b="1"/>
              <a:t>1981</a:t>
            </a:r>
          </a:p>
          <a:p>
            <a:pPr lvl="0"/>
            <a:r>
              <a:rPr/>
              <a:t>Avions Marcel Dassault crea Dassault Systemes, y firma un acuerdo con IBM.</a:t>
            </a:r>
          </a:p>
          <a:p>
            <a:pPr lvl="0"/>
            <a:r>
              <a:rPr/>
              <a:t>Computer graphics de la Universidad Cornell funda 3D/Eye Inc.</a:t>
            </a:r>
          </a:p>
          <a:p>
            <a:pPr lvl="0" indent="0" marL="0">
              <a:spcBef>
                <a:spcPts val="3000"/>
              </a:spcBef>
              <a:buNone/>
            </a:pPr>
            <a:r>
              <a:rPr b="1"/>
              <a:t>Unigraphics crea el primer sistema de modelado sólido UniSolid.</a:t>
            </a:r>
          </a:p>
          <a:p>
            <a:pPr lvl="0" indent="0" marL="0">
              <a:spcBef>
                <a:spcPts val="3000"/>
              </a:spcBef>
              <a:buNone/>
            </a:pPr>
            <a:r>
              <a:rPr b="1"/>
              <a:t>1982</a:t>
            </a:r>
          </a:p>
          <a:p>
            <a:pPr lvl="0"/>
            <a:r>
              <a:rPr/>
              <a:t>Aparece CATIA Version 1, producto para el diseño 3D, modelado de superficies y programación de control numérico.</a:t>
            </a:r>
          </a:p>
          <a:p>
            <a:pPr lvl="0"/>
            <a:r>
              <a:rPr/>
              <a:t>Empiezan a aparecer ordenadores con mucha más potencia y menor coste; esto implica un gran paso adelante, pero no será hasta # 1984 que la tecnología empieza a ser competitiva con los métodos tradicionales. Durante muchos años en la industria aeronáutica se había estado diseñando utilizando computadoras; pero en este momento estaba empezando a ser posible económicamente, diseñar cacerolas y otros utensilios domésticos, con complejas formas 3D, usando ordenadores.</a:t>
            </a:r>
          </a:p>
          <a:p>
            <a:pPr lvl="0"/>
            <a:r>
              <a:rPr/>
              <a:t>Autodesk es fundada en California por setenta personas por iniciativa de Jonh Walker. El objetivo era crear un programa de CAD a un precio de 1.000 $ que pudiese funcionar en un PC.</a:t>
            </a:r>
          </a:p>
          <a:p>
            <a:pPr lvl="0"/>
            <a:r>
              <a:rPr/>
              <a:t>En noviembre en Las Vegas se hace la primera demostración pública en el mundo de un programa de CAD que funciona en un PC. Se trataba de la primera entrega de AutoCAD, y las ventas empiezan en diciembre.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1983</a:t>
            </a:r>
          </a:p>
        </p:txBody>
      </p:sp>
      <p:sp>
        <p:nvSpPr>
          <p:cNvPr id="3" name="Content Placeholder 2"/>
          <p:cNvSpPr>
            <a:spLocks noGrp="1"/>
          </p:cNvSpPr>
          <p:nvPr>
            <p:ph idx="1"/>
          </p:nvPr>
        </p:nvSpPr>
        <p:spPr/>
        <p:txBody>
          <a:bodyPr/>
          <a:lstStyle/>
          <a:p>
            <a:pPr lvl="0"/>
            <a:r>
              <a:rPr/>
              <a:t>Aparece en el mercado Unigraphics II.</a:t>
            </a:r>
          </a:p>
          <a:p>
            <a:pPr lvl="0"/>
            <a:r>
              <a:rPr/>
              <a:t>Primeras versiones en alemán y francés de AutoCAD.</a:t>
            </a:r>
          </a:p>
          <a:p>
            <a:pPr lvl="0"/>
            <a:r>
              <a:rPr/>
              <a:t>Empiezan los trabajos para un nuevo sistema universal de transferencia de datos, llamado STEP (Stándar for The Exchange of Product model data). STEP puede transferir información CAD incluyendo detalles complejos del modelado del producto, materiales y múltiples parámetros de diseño. El primer “traductor” disponible de STEP aparece en # 1991.</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1984</a:t>
            </a:r>
          </a:p>
        </p:txBody>
      </p:sp>
      <p:sp>
        <p:nvSpPr>
          <p:cNvPr id="3" name="Content Placeholder 2"/>
          <p:cNvSpPr>
            <a:spLocks noGrp="1"/>
          </p:cNvSpPr>
          <p:nvPr>
            <p:ph idx="1"/>
          </p:nvPr>
        </p:nvSpPr>
        <p:spPr/>
        <p:txBody>
          <a:bodyPr/>
          <a:lstStyle/>
          <a:p>
            <a:pPr lvl="0"/>
            <a:r>
              <a:rPr/>
              <a:t>El producto desarrollado por Cambridge y Delta, DUCT, era uno de los pocos que habían sido desarrollados desde el principio para el diseño y control numérico del mecanizado de productos. Eso suponía una diferencia con el resto de sistemas, que se habían desarrollado primero como dibujo plano, seguido por el modelado 3D, y por último añadiendo el mecanizado posteriormente.</a:t>
            </a:r>
          </a:p>
          <a:p>
            <a:pPr lvl="0"/>
            <a:r>
              <a:rPr/>
              <a:t>Se introducen capacidades de dibujo a CATIA, pudiendo así funcionar independientemente de CADAM.</a:t>
            </a:r>
          </a:p>
          <a:p>
            <a:pPr lvl="0" indent="0" marL="0">
              <a:spcBef>
                <a:spcPts val="3000"/>
              </a:spcBef>
              <a:buNone/>
            </a:pPr>
            <a:r>
              <a:rPr b="1"/>
              <a:t>Se crea el primer centro de formación de Autodesk.</a:t>
            </a:r>
          </a:p>
          <a:p>
            <a:pPr lvl="0" indent="0" marL="0">
              <a:spcBef>
                <a:spcPts val="3000"/>
              </a:spcBef>
              <a:buNone/>
            </a:pPr>
            <a:r>
              <a:rPr b="1"/>
              <a:t>1985</a:t>
            </a:r>
          </a:p>
          <a:p>
            <a:pPr lvl="0"/>
            <a:r>
              <a:rPr/>
              <a:t>MicroStation proporciona CAD avanzado para PC. MicroStation había empezado como un “clon” de otro paquete de CAD; llamándose originalmente PseudoStation, permitiendo ver dibujos IGDS sin necesidad del software de Intergraph. La versión siguiente ya se llamó MicroStation y permitía editar los archivos IGDS. Cuando Intergraph compró el 50 % de Bentley System, empresa que desarrollaba MicroStation, este paso a usar la extensión DGN.</a:t>
            </a:r>
          </a:p>
          <a:p>
            <a:pPr lvl="0"/>
            <a:r>
              <a:rPr/>
              <a:t>CATIA se convierte en la aplicación líder del sector aeronáutico. Su Version 2 incluye dibujo, sólidos y robotización completamente integradas.</a:t>
            </a:r>
          </a:p>
          <a:p>
            <a:pPr lvl="0"/>
            <a:r>
              <a:rPr/>
              <a:t>Se funda Diehl Graphsoft Inc. Y en el mismo año aparece la primera versión de MiniCAD. Este será el programa de CAD para Macintosh más vendido.</a:t>
            </a:r>
          </a:p>
          <a:p>
            <a:pPr lvl="0" indent="0" marL="0">
              <a:spcBef>
                <a:spcPts val="3000"/>
              </a:spcBef>
              <a:buNone/>
            </a:pPr>
            <a:r>
              <a:rPr b="1"/>
              <a:t>La versión 2.1 de AutoCAD incluye características 3D y de polilíneas.</a:t>
            </a:r>
          </a:p>
          <a:p>
            <a:pPr lvl="0" indent="0" marL="0">
              <a:spcBef>
                <a:spcPts val="3000"/>
              </a:spcBef>
              <a:buNone/>
            </a:pPr>
            <a:r>
              <a:rPr b="1"/>
              <a:t>1986</a:t>
            </a:r>
          </a:p>
          <a:p>
            <a:pPr lvl="0"/>
            <a:r>
              <a:rPr/>
              <a:t>La versión 2.18 de AutoCAD incluye el completo lenguaje de programación AutoLISP. Este, es un lenguaje basado en el ASCII, permite a los usuarios escribir y grabar programas LISP que complementan de forma personalizada los comandos.</a:t>
            </a:r>
          </a:p>
          <a:p>
            <a:pPr lvl="0"/>
            <a:r>
              <a:rPr/>
              <a:t>Aparece la revista CADENCE, que se transformará en la mayor publicación independiente de CAD del mundo.</a:t>
            </a:r>
          </a:p>
          <a:p>
            <a:pPr lvl="0" indent="0" marL="0">
              <a:spcBef>
                <a:spcPts val="3000"/>
              </a:spcBef>
              <a:buNone/>
            </a:pPr>
            <a:r>
              <a:rPr b="1"/>
              <a:t>AutoCAD alcanza las 50.000 copias vendidas en el mundo entero.</a:t>
            </a:r>
          </a:p>
          <a:p>
            <a:pPr lvl="0" indent="0" marL="0">
              <a:spcBef>
                <a:spcPts val="3000"/>
              </a:spcBef>
              <a:buNone/>
            </a:pPr>
            <a:r>
              <a:rPr b="1"/>
              <a:t>1987</a:t>
            </a:r>
          </a:p>
          <a:p>
            <a:pPr lvl="0"/>
            <a:r>
              <a:rPr/>
              <a:t>ISICAD compra CADVANCE, y la desarrolla hasta convertirla en la primera aplicación de CAD basada en iconos y ventanas del mercado.</a:t>
            </a:r>
          </a:p>
          <a:p>
            <a:pPr lvl="0" indent="0" marL="0">
              <a:spcBef>
                <a:spcPts val="3000"/>
              </a:spcBef>
              <a:buNone/>
            </a:pPr>
            <a:r>
              <a:rPr b="1"/>
              <a:t>AutoCAD Release 9 es la primera versión de AutoCAD que necesita un coprocesador matemático 80x87 en ordenadores basados en procesadores Intel 8086. Incluye además un avanzado interfaz de usuario que incorpora barra de herramientas, menús desplegables, menús de iconos y cuadros de diálogo. Se incorpora el ADS (AutoCAD Development System) que permite usar el C en lugar de AutoLISP para programar.</a:t>
            </a:r>
          </a:p>
          <a:p>
            <a:pPr lvl="0" indent="0" marL="0">
              <a:spcBef>
                <a:spcPts val="3000"/>
              </a:spcBef>
              <a:buNone/>
            </a:pPr>
            <a:r>
              <a:rPr b="1"/>
              <a:t>1988</a:t>
            </a:r>
          </a:p>
          <a:p>
            <a:pPr lvl="0"/>
            <a:r>
              <a:rPr/>
              <a:t>Aparece Canvas 2.0, convirtiéndose en una potente herramienta del naciente mundo de los gráficos digitales. Esta versión incluye grandes innovaciones como: curvas de Bezier de múltiples puntos, número de capas ilimitado, color de 32-bit, dibujo de precisión, separación por colores …</a:t>
            </a:r>
          </a:p>
          <a:p>
            <a:pPr lvl="0"/>
            <a:r>
              <a:rPr/>
              <a:t>Se anuncia CATIA Version 3, con funciones de AEC (Architectural Engineering and Construction). CATIA se convierte en la aplicación líder del sector automovilístico.</a:t>
            </a:r>
          </a:p>
          <a:p>
            <a:pPr lvl="0" indent="0" marL="0">
              <a:spcBef>
                <a:spcPts val="3000"/>
              </a:spcBef>
              <a:buNone/>
            </a:pPr>
            <a:r>
              <a:rPr b="1"/>
              <a:t>Autodesk saca AutoCAD Release 10, con mejorías en el campo 3D.</a:t>
            </a:r>
          </a:p>
          <a:p>
            <a:pPr lvl="0" indent="0" marL="0">
              <a:spcBef>
                <a:spcPts val="3000"/>
              </a:spcBef>
              <a:buNone/>
            </a:pPr>
            <a:r>
              <a:rPr b="1"/>
              <a:t>1989</a:t>
            </a:r>
          </a:p>
          <a:p>
            <a:pPr lvl="0"/>
            <a:r>
              <a:rPr/>
              <a:t>Unigraphics anuncia un compromiso con UNIX y arquitectura de código abierto.</a:t>
            </a:r>
          </a:p>
          <a:p>
            <a:pPr lvl="0"/>
            <a:r>
              <a:rPr/>
              <a:t>Parametric ProO lanza T-FLEX, el primer programa para PC de CAD mecánico paramétrico.</a:t>
            </a:r>
          </a:p>
          <a:p>
            <a:pPr lvl="0"/>
            <a:r>
              <a:rPr/>
              <a:t>CSC presenta MicroCADAM, un programa de CAD/CAM que se convertirá en el producto de CAD más vendido de Japón.</a:t>
            </a:r>
          </a:p>
          <a:p>
            <a:pPr lvl="0"/>
            <a:r>
              <a:rPr/>
              <a:t>Parametric Technology ofrece la primera versión de Pro/ENGINEER.</a:t>
            </a:r>
          </a:p>
          <a:p>
            <a:pPr lvl="0" indent="0" marL="0">
              <a:spcBef>
                <a:spcPts val="3000"/>
              </a:spcBef>
              <a:buNone/>
            </a:pPr>
            <a:r>
              <a:rPr b="1"/>
              <a:t>La década de los 90 se caracteriza por una automatización cada vez más completa de los procesos industriales en los que se va generalizando la integración de las diversas técnicas de diseño, análisis, simulación y fabricación. La evolución del hardware y las comunicaciones hacen posible que la aplicación de técnicas CAD/CAM este limitada tan solo por la imaginación de los usuarios.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1990</a:t>
            </a:r>
          </a:p>
        </p:txBody>
      </p:sp>
      <p:sp>
        <p:nvSpPr>
          <p:cNvPr id="3" name="Content Placeholder 2"/>
          <p:cNvSpPr>
            <a:spLocks noGrp="1"/>
          </p:cNvSpPr>
          <p:nvPr>
            <p:ph idx="1"/>
          </p:nvPr>
        </p:nvSpPr>
        <p:spPr/>
        <p:txBody>
          <a:bodyPr/>
          <a:lstStyle/>
          <a:p>
            <a:pPr lvl="0"/>
            <a:r>
              <a:rPr/>
              <a:t>McDonnell Douglas elige Unigraphics como el estándar de la empresa para el CAD/CAM/CAE mecánico.</a:t>
            </a:r>
          </a:p>
          <a:p>
            <a:pPr lvl="0"/>
            <a:r>
              <a:rPr/>
              <a:t>Se funda la empresa Visionary Design Systems Inc., pionera en la tecnología del modelado sólido.</a:t>
            </a:r>
          </a:p>
          <a:p>
            <a:pPr lvl="0"/>
            <a:r>
              <a:rPr/>
              <a:t>Autodesk lanza AutoCAD Release 11, con soporte para red, lo que permite instalar una única copia del programa en un servidor de red. También aparece Auto Shade 2, un complemento para AutoCAD que permite sombrear los modelos tridimensionales creados.</a:t>
            </a:r>
          </a:p>
          <a:p>
            <a:pPr lvl="0" indent="0" marL="0">
              <a:spcBef>
                <a:spcPts val="3000"/>
              </a:spcBef>
              <a:buNone/>
            </a:pPr>
            <a:r>
              <a:rPr b="1"/>
              <a:t>A final de año Autodesk había vendido 500.000 copias de AutoCAD, 300.000 de Generic CAD y 200.000 de Auto Sketch. Siendo los programas de CAD de más venta de todo el mundo.</a:t>
            </a:r>
          </a:p>
          <a:p>
            <a:pPr lvl="0" indent="0" marL="0">
              <a:spcBef>
                <a:spcPts val="3000"/>
              </a:spcBef>
              <a:buNone/>
            </a:pPr>
            <a:r>
              <a:rPr b="1"/>
              <a:t>1991</a:t>
            </a:r>
          </a:p>
          <a:p>
            <a:pPr lvl="0"/>
            <a:r>
              <a:rPr/>
              <a:t>Microsoft desarrolla Open GL, para su uso con Windows NT. Open GL es un interfaz de software para la producción de gráficos 3D. Incorpora aproximadamente 120 comandos para dibujar varias formas primitivas como puntos, líneas y polígonos; también incluye soporte para el sombreado, aplicación de texturas, iluminación, animación, efectos atmosféricos (como neblina) y simulación de la profundidad de campo. Open GL, desarrollado por Silicon Graphics, es un estándar para la programación y renderizado de gráficos 3D en color.</a:t>
            </a:r>
          </a:p>
          <a:p>
            <a:pPr lvl="0"/>
            <a:r>
              <a:rPr/>
              <a:t>GE Aircraft Engine y GE Power Generation eligen Unigraphics como su programa de CAD/CAM.</a:t>
            </a:r>
          </a:p>
          <a:p>
            <a:pPr lvl="0"/>
            <a:r>
              <a:rPr/>
              <a:t>Aparece Canvas Release 3, con múltiples primicias, lo que le hace obtener premios al mejor programa de dibujo e ilustración.</a:t>
            </a:r>
          </a:p>
          <a:p>
            <a:pPr lvl="0"/>
            <a:r>
              <a:rPr/>
              <a:t>Aparece el primer AutoCAD para plataformas SUN.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1992</a:t>
            </a:r>
          </a:p>
        </p:txBody>
      </p:sp>
      <p:sp>
        <p:nvSpPr>
          <p:cNvPr id="3" name="Content Placeholder 2"/>
          <p:cNvSpPr>
            <a:spLocks noGrp="1"/>
          </p:cNvSpPr>
          <p:nvPr>
            <p:ph idx="1"/>
          </p:nvPr>
        </p:nvSpPr>
        <p:spPr/>
        <p:txBody>
          <a:bodyPr/>
          <a:lstStyle/>
          <a:p>
            <a:pPr lvl="0"/>
            <a:r>
              <a:rPr/>
              <a:t>IBM acepta comprar una participación minoritaria de Dassault Systemes. A partir de ahí empiezan progresivamente a unificar CATIA y CADAM, conjuntando las mejores características tecnológicas de ambos sistemas.</a:t>
            </a:r>
          </a:p>
          <a:p>
            <a:pPr lvl="0"/>
            <a:r>
              <a:rPr/>
              <a:t>Autodesk lanza 3D Studio y AutoCAD 12, ambos para DOS.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1993</a:t>
            </a:r>
          </a:p>
        </p:txBody>
      </p:sp>
      <p:sp>
        <p:nvSpPr>
          <p:cNvPr id="3" name="Content Placeholder 2"/>
          <p:cNvSpPr>
            <a:spLocks noGrp="1"/>
          </p:cNvSpPr>
          <p:nvPr>
            <p:ph idx="1"/>
          </p:nvPr>
        </p:nvSpPr>
        <p:spPr/>
        <p:txBody>
          <a:bodyPr/>
          <a:lstStyle/>
          <a:p>
            <a:pPr lvl="0"/>
            <a:r>
              <a:rPr/>
              <a:t>Unigraphics Solutions compra la empresa especialista en CAM UNC Software Gmbh. Introduce el modelado híbrido, caracterizado por utilizar tanto parametrización avanzada como las tradicionales tecnologías de modelado constructivo.</a:t>
            </a:r>
          </a:p>
          <a:p>
            <a:pPr lvl="0"/>
            <a:r>
              <a:rPr/>
              <a:t>Se presenta CATIA-CADAM Version 4, que mejora de forma significativa la línea de producción, la robustez del sistema, la arquitectura abierta de programación, capacidades y facilidad de uso. Permite desarrollar múltiples operaciones en simultáneo - ingeniería concurrente - permitiendo una concepción global del diseño.</a:t>
            </a:r>
          </a:p>
          <a:p>
            <a:pPr lvl="0"/>
            <a:r>
              <a:rPr/>
              <a:t>Un comité de 16 instituciones y empresas definen y desarrollan SVF (Simple Vector Format), considerado el método más eficiente para trabajar con archivos de dibujos vectoriales en Internet.</a:t>
            </a:r>
          </a:p>
          <a:p>
            <a:pPr lvl="0"/>
            <a:r>
              <a:rPr/>
              <a:t>Autodesk lanza 3D Studio version 3 para DOS, que permite hacer complejas animaciones a partir de dibujos de AutoCAD; y la primera versión de AutoCAD (Release 12) para Windows.</a:t>
            </a:r>
          </a:p>
          <a:p>
            <a:pPr lvl="0"/>
            <a:r>
              <a:rPr/>
              <a:t>Se funda una nueva compañía de CAD llamada SolidWorks Inc</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1994</a:t>
            </a:r>
          </a:p>
        </p:txBody>
      </p:sp>
      <p:sp>
        <p:nvSpPr>
          <p:cNvPr id="3" name="Content Placeholder 2"/>
          <p:cNvSpPr>
            <a:spLocks noGrp="1"/>
          </p:cNvSpPr>
          <p:nvPr>
            <p:ph idx="1"/>
          </p:nvPr>
        </p:nvSpPr>
        <p:spPr/>
        <p:txBody>
          <a:bodyPr/>
          <a:lstStyle/>
          <a:p>
            <a:pPr lvl="0"/>
            <a:r>
              <a:rPr/>
              <a:t>Autodesk lanza 3D Studio version 4, la última versión para DOS; y AutoCAD Release 13.</a:t>
            </a:r>
          </a:p>
          <a:p>
            <a:pPr lvl="0"/>
            <a:r>
              <a:rPr/>
              <a:t>Micrografx Designer ver 4.1 para Windows.</a:t>
            </a:r>
          </a:p>
          <a:p>
            <a:pPr lvl="0"/>
            <a:r>
              <a:rPr/>
              <a:t>MicroStation version 5</a:t>
            </a:r>
          </a:p>
          <a:p>
            <a:pPr lvl="0"/>
            <a:r>
              <a:rPr/>
              <a:t>MiniCAD version 5</a:t>
            </a:r>
          </a:p>
          <a:p>
            <a:pPr lvl="0"/>
            <a:r>
              <a:rPr/>
              <a:t>Hewlett Packard desarrolla la versión 3.5 de PE/Solid Designer ; su programa avanzado de modelado sólido. Se instalan 50.000 puestos.</a:t>
            </a:r>
          </a:p>
          <a:p>
            <a:pPr lvl="0"/>
            <a:r>
              <a:rPr/>
              <a:t>A final de año AutoCAD, él sólo, alcanza la marca de un millón de copias en el mundo entero. Los siguientes sistemas de CAD son Cadkey con 180.000 copias vendidas, y MicroStation con 155.000 copias vendidas.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1995</a:t>
            </a:r>
          </a:p>
        </p:txBody>
      </p:sp>
      <p:sp>
        <p:nvSpPr>
          <p:cNvPr id="3" name="Content Placeholder 2"/>
          <p:cNvSpPr>
            <a:spLocks noGrp="1"/>
          </p:cNvSpPr>
          <p:nvPr>
            <p:ph idx="1"/>
          </p:nvPr>
        </p:nvSpPr>
        <p:spPr/>
        <p:txBody>
          <a:bodyPr/>
          <a:lstStyle/>
          <a:p>
            <a:pPr lvl="0"/>
            <a:r>
              <a:rPr/>
              <a:t>Bentley incorpora a MicroStation un avanzado sistema de modelado sólido para diseño mecánico. El número de puestos instalados llega a los 200.000.</a:t>
            </a:r>
          </a:p>
          <a:p>
            <a:pPr lvl="0"/>
            <a:r>
              <a:rPr/>
              <a:t>3M, Delphi Interior &amp; Lighting Systems, Motor Coach Industries escogen Unigraphics. EDS Corporation tiene instalados más de 35.000 puestos de Unigraphics en el mundo entero, incluyendo compañías como General Motors, Mc Donnell-Douglas, US Navy …</a:t>
            </a:r>
          </a:p>
          <a:p>
            <a:pPr lvl="0"/>
            <a:r>
              <a:rPr/>
              <a:t>Empieza Unigraphics para Microsoft Windows NT. Y es nombrada la compañía más prometedora para el futuro.</a:t>
            </a:r>
          </a:p>
          <a:p>
            <a:pPr lvl="0"/>
            <a:r>
              <a:rPr/>
              <a:t>Se presenta CATIA-CADAM AEC Solutions (Architectural Engineering and Construction). Sistema de modelado de plantas que permite perfeccionar de manera espectacular el proceso de diseño de una planta, construcción y funcionamiento.</a:t>
            </a:r>
          </a:p>
          <a:p>
            <a:pPr lvl="0"/>
            <a:r>
              <a:rPr/>
              <a:t>3D Studio MAX, primera versión de 3D Studio para plataformas NT.</a:t>
            </a:r>
          </a:p>
          <a:p>
            <a:pPr lvl="0"/>
            <a:r>
              <a:rPr/>
              <a:t>Cadkey version 7</a:t>
            </a:r>
          </a:p>
          <a:p>
            <a:pPr lvl="0"/>
            <a:r>
              <a:rPr/>
              <a:t>IDEAS Master Series version 2.1, de SDRC.</a:t>
            </a:r>
          </a:p>
          <a:p>
            <a:pPr lvl="0"/>
            <a:r>
              <a:rPr/>
              <a:t>Computervision lanza Medusa, un programa de CAD para ingeniería mecánica, y MicroDraft version 6.1, un programa CAD 2D para DOS y plataformas UNIX.</a:t>
            </a:r>
          </a:p>
          <a:p>
            <a:pPr lvl="0"/>
            <a:r>
              <a:rPr/>
              <a:t>MicroStation 95 es el primer sistema desarrollado para plataformas Windows 95.</a:t>
            </a:r>
          </a:p>
          <a:p>
            <a:pPr lvl="0"/>
            <a:r>
              <a:rPr/>
              <a:t>Parametric Technology anuncia Pro/Engineer version15, el primer programa de CAD/CAM de modelado paramétrico y el primer paquete de modelado sólido 3D disponible para plataformas NT. Lanza también una versión reducida del producto, llamada Pro/Junior que funciona bajo Windows 95.</a:t>
            </a:r>
          </a:p>
          <a:p>
            <a:pPr lvl="0"/>
            <a:r>
              <a:rPr/>
              <a:t>Dassault Systemes lanza ProCADAM, una versión reducida de CATIA para su uso en sistemas NT.</a:t>
            </a:r>
          </a:p>
          <a:p>
            <a:pPr lvl="0"/>
            <a:r>
              <a:rPr/>
              <a:t>Autodesk lanza la primera versión de Mechanical Desktop, un sistema de diseño para el módulo de trabajo mecánico integrado en AutoCAD 13.</a:t>
            </a:r>
          </a:p>
          <a:p>
            <a:pPr lvl="0"/>
            <a:r>
              <a:rPr/>
              <a:t>Autodesk pasa a ser la quinta compañía de software del mundo por tamaño.</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1996</a:t>
            </a:r>
          </a:p>
        </p:txBody>
      </p:sp>
      <p:sp>
        <p:nvSpPr>
          <p:cNvPr id="3" name="Content Placeholder 2"/>
          <p:cNvSpPr>
            <a:spLocks noGrp="1"/>
          </p:cNvSpPr>
          <p:nvPr>
            <p:ph idx="1"/>
          </p:nvPr>
        </p:nvSpPr>
        <p:spPr/>
        <p:txBody>
          <a:bodyPr/>
          <a:lstStyle/>
          <a:p>
            <a:pPr lvl="0"/>
            <a:r>
              <a:rPr/>
              <a:t>Bentley saca MicroStation Architectural modeling &amp; plant engineering.</a:t>
            </a:r>
          </a:p>
          <a:p>
            <a:pPr lvl="0"/>
            <a:r>
              <a:rPr/>
              <a:t>General Motors firma el mayor contrato de CAD/CAM de la historia escogiendo Unigraphics como el único programa para el desarrollo de sus vehículos.</a:t>
            </a:r>
          </a:p>
          <a:p>
            <a:pPr lvl="0"/>
            <a:r>
              <a:rPr/>
              <a:t>CATIA-CADAM Solutions Version 4 está disponible para plataformas Silicon Graphics, Hewlett Packard y Sun.</a:t>
            </a:r>
          </a:p>
          <a:p>
            <a:pPr lvl="0"/>
            <a:r>
              <a:rPr/>
              <a:t>Intergraph lanza la primera versión de su programa de CAD 2D Imagineer Technical.</a:t>
            </a:r>
          </a:p>
          <a:p>
            <a:pPr lvl="0"/>
            <a:r>
              <a:rPr/>
              <a:t>Solid Edge version 3 de Intergraph impacta en el mercado al lanzarse a un precio de unos 6000 dólares.</a:t>
            </a:r>
          </a:p>
          <a:p>
            <a:pPr lvl="0"/>
            <a:r>
              <a:rPr/>
              <a:t>SolidWorks Co. lanza Solid Works, un ambicioso paquete 3D. Incorpora un complejo modelador de superficies y una buena interfaz de usuario gráfica.</a:t>
            </a:r>
          </a:p>
          <a:p>
            <a:pPr lvl="0"/>
            <a:r>
              <a:rPr/>
              <a:t>3D/EYE Inc. lanza Tri Spectives Technical version 2, un programa de modelado, ilustración y animación para Windows a un precio muy bajo.</a:t>
            </a:r>
          </a:p>
          <a:p>
            <a:pPr lvl="0"/>
            <a:r>
              <a:rPr/>
              <a:t>Unigraphics versión 11, con cuatro nuevos módulos de CAM. EDS Corporation distribuye también Unigraphics/Creator, una versión reducida de Unigraphics para plataformas Windows NT (con total interoperabilidad con la versión completa).</a:t>
            </a:r>
          </a:p>
          <a:p>
            <a:pPr lvl="0"/>
            <a:r>
              <a:rPr/>
              <a:t>Varimetrix versión 5, usado por compañías como AT &amp; T y British Aerospace.</a:t>
            </a:r>
          </a:p>
          <a:p>
            <a:pPr lvl="0"/>
            <a:r>
              <a:rPr/>
              <a:t>Diehl Graphsoft anuncia MiniCAD 6 para Windows, la primera versión multiplataforma de MiniCAD.</a:t>
            </a:r>
          </a:p>
          <a:p>
            <a:pPr lvl="0"/>
            <a:r>
              <a:rPr/>
              <a:t>Se funda DATACAD LLC comprando los derechos de desarrollo, distribución y marketing de la línea de productos DataCAD a Micro Control Systems Inc. DataCAD es un programa profesional de AEC CADD para el diseño arquitectónico, renderizaciones fotorrealistas y animaciones (en el año 2000 es el segundo programa de CAD más usado por los arquitectos).</a:t>
            </a:r>
          </a:p>
          <a:p>
            <a:pPr lvl="0"/>
            <a:r>
              <a:rPr/>
              <a:t>AutoCAD LT 95</a:t>
            </a:r>
          </a:p>
          <a:p>
            <a:pPr lvl="0"/>
            <a:r>
              <a:rPr/>
              <a:t>Matra Datavision lanza Moldmaker, un paquete de modelado 3D para plataformas UNIX.</a:t>
            </a:r>
          </a:p>
          <a:p>
            <a:pPr lvl="0"/>
            <a:r>
              <a:rPr/>
              <a:t>Pro/Engineer version 17, con un nuevo módulo que permite exportar los archivos a formato VRML para mostrarlos en Internet.</a:t>
            </a:r>
          </a:p>
          <a:p>
            <a:pPr lvl="0"/>
            <a:r>
              <a:rPr/>
              <a:t>MicroStation Modeler version 4</a:t>
            </a:r>
          </a:p>
          <a:p>
            <a:pPr lvl="0"/>
            <a:r>
              <a:rPr/>
              <a:t>Camans version 11, un producto de CAM de SDRC.</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1997</a:t>
            </a:r>
          </a:p>
        </p:txBody>
      </p:sp>
      <p:sp>
        <p:nvSpPr>
          <p:cNvPr id="3" name="Content Placeholder 2"/>
          <p:cNvSpPr>
            <a:spLocks noGrp="1"/>
          </p:cNvSpPr>
          <p:nvPr>
            <p:ph idx="1"/>
          </p:nvPr>
        </p:nvSpPr>
        <p:spPr/>
        <p:txBody>
          <a:bodyPr/>
          <a:lstStyle/>
          <a:p>
            <a:pPr lvl="0"/>
            <a:r>
              <a:rPr/>
              <a:t>Autodesk anuncia AutoCAD LT 97; 3D Studio MAX release 2 y una versión reducida llamada 3D Studio Viz; AEC Professional Suite 2, paquete a integrar en AutoCAD con utilidades de AEC, animación y renderizado; AutoCAD 13 Internet Publishing Kit, para acceder y compartir dibujos a través de Internet; y World Creation Toolkit, colección de objetos, animaciones, y demás prediseñados.</a:t>
            </a:r>
          </a:p>
          <a:p>
            <a:pPr lvl="0"/>
            <a:r>
              <a:rPr/>
              <a:t>Bentley lanza MicroStation Modeler version 5.5.</a:t>
            </a:r>
          </a:p>
          <a:p>
            <a:pPr lvl="0"/>
            <a:r>
              <a:rPr/>
              <a:t>Dassault Systemes S.A. compra Deneb, el reconocido proveedor de las soluciones líderes en producción digital.</a:t>
            </a:r>
          </a:p>
          <a:p>
            <a:pPr lvl="0"/>
            <a:r>
              <a:rPr/>
              <a:t>Dassault Systemes S.A. y SolidWorks Corporation anuncia la firma de un acuerdo definitivo por el cual Dassault Systemes adquiere SolidWorks, el proveedor líder de software de diseño mecánico para Windows.</a:t>
            </a:r>
          </a:p>
          <a:p>
            <a:pPr lvl="0"/>
            <a:r>
              <a:rPr/>
              <a:t>EDS incorpora varias nuevas características de nuevos procesos industriales con su nueva versión de Unigraphics. Incluyendo WAVE, que permite la definición, control y evaluación de las plantillas de los productos, considerada la nueva tecnología en relación con el CAD/CAM/CAE más importante de los últimos años.</a:t>
            </a:r>
          </a:p>
          <a:p>
            <a:pPr lvl="0"/>
            <a:r>
              <a:rPr/>
              <a:t>Primera versión de IDEAS Artisan Series de SDRC, completamente compatible con Master Series.</a:t>
            </a:r>
          </a:p>
          <a:p>
            <a:pPr lvl="0"/>
            <a:r>
              <a:rPr/>
              <a:t>Revit Technology Corporation revoluciona el diseño de los edificios con Revit, el primer modelador paramétrico de edificios desarrollado para la industria de AEC.</a:t>
            </a:r>
          </a:p>
          <a:p>
            <a:pPr lvl="0"/>
            <a:r>
              <a:rPr/>
              <a:t>EDS e Intergraph anuncian planes para conjuntar las ventajas de sus programas de CAD, Unigraphics y Solid Edge, en una aventura conjunta.</a:t>
            </a:r>
          </a:p>
          <a:p>
            <a:pPr lvl="0"/>
            <a:r>
              <a:rPr/>
              <a:t>Matra Datavision lanza STRIM, un paquete de CAD/CAM.</a:t>
            </a:r>
          </a:p>
          <a:p>
            <a:pPr lvl="0"/>
            <a:r>
              <a:rPr/>
              <a:t>MiniCAD version 7, para Mac y Windows.</a:t>
            </a:r>
          </a:p>
          <a:p>
            <a:pPr lvl="0"/>
            <a:r>
              <a:rPr/>
              <a:t>Pro/Engineer version 18.</a:t>
            </a:r>
          </a:p>
          <a:p>
            <a:pPr lvl="0"/>
            <a:r>
              <a:rPr/>
              <a:t>Unigraphics version 12.</a:t>
            </a:r>
          </a:p>
          <a:p>
            <a:pPr lvl="0"/>
            <a:r>
              <a:rPr/>
              <a:t>Autodesk lanza en noviembre Mechanical Desktop version 2 integrado con AutoCAD 14.</a:t>
            </a:r>
          </a:p>
          <a:p>
            <a:pPr lvl="0"/>
            <a:r>
              <a:rPr/>
              <a:t>Mercado de CAD/CAM a nivel mundial:</a:t>
            </a:r>
          </a:p>
          <a:p>
            <a:pPr lvl="0" indent="-342900" marL="342900">
              <a:buAutoNum type="arabicPeriod"/>
            </a:pPr>
            <a:r>
              <a:rPr/>
              <a:t>Parametric Technology</a:t>
            </a:r>
          </a:p>
          <a:p>
            <a:pPr lvl="0" indent="-342900" marL="342900">
              <a:buAutoNum type="arabicPeriod"/>
            </a:pPr>
            <a:r>
              <a:rPr/>
              <a:t>Dassault Systemes</a:t>
            </a:r>
          </a:p>
          <a:p>
            <a:pPr lvl="0" indent="-342900" marL="342900">
              <a:buAutoNum type="arabicPeriod"/>
            </a:pPr>
            <a:r>
              <a:rPr/>
              <a:t>EDS / Intergraph</a:t>
            </a:r>
          </a:p>
          <a:p>
            <a:pPr lvl="0" indent="-342900" marL="342900">
              <a:buAutoNum type="arabicPeriod"/>
            </a:pPr>
            <a:r>
              <a:rPr/>
              <a:t>SDRC</a:t>
            </a:r>
          </a:p>
          <a:p>
            <a:pPr lvl="0" indent="-342900" marL="342900">
              <a:buAutoNum type="arabicPeriod"/>
            </a:pPr>
            <a:r>
              <a:rPr/>
              <a:t>Autodesk</a:t>
            </a:r>
          </a:p>
          <a:p>
            <a:pPr lvl="0"/>
            <a:r>
              <a:rPr/>
              <a:t>Con un volumen del mercado de 95.800 millones de dólares en Estados Unidos y en Europa de 24.500 millones de Euros.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1998</a:t>
            </a:r>
          </a:p>
        </p:txBody>
      </p:sp>
      <p:sp>
        <p:nvSpPr>
          <p:cNvPr id="3" name="Content Placeholder 2"/>
          <p:cNvSpPr>
            <a:spLocks noGrp="1"/>
          </p:cNvSpPr>
          <p:nvPr>
            <p:ph idx="1"/>
          </p:nvPr>
        </p:nvSpPr>
        <p:spPr/>
        <p:txBody>
          <a:bodyPr/>
          <a:lstStyle/>
          <a:p>
            <a:pPr lvl="0"/>
            <a:r>
              <a:rPr/>
              <a:t>Dassault Systemes crea ENOVIA Corporation, una subempresa encargada de desarrollar las soluciones de ENOVIA PDM II (Product Development Management).</a:t>
            </a:r>
          </a:p>
          <a:p>
            <a:pPr lvl="0"/>
            <a:r>
              <a:rPr/>
              <a:t>Dassault Systemes, Matra Datavision e IBM anuncian un propósito de cooperación. Consistente entre otras cosas en la compra por parte de Dassault Systemes del software de Matra Datavision de superficies y modelado libre, control numérico de maquinaria, así como otros productos complementarios dedicados a la simulación de la inyección de plástico.</a:t>
            </a:r>
          </a:p>
          <a:p>
            <a:pPr lvl="0"/>
            <a:r>
              <a:rPr/>
              <a:t>Matra Datavision pasa a dar asistencia técnica para CATIA y a integrar sus productos en CATIA.</a:t>
            </a:r>
          </a:p>
          <a:p>
            <a:pPr lvl="0"/>
            <a:r>
              <a:rPr/>
              <a:t>Unigraphics Solutions pasa a ser una subsidiaria de EDS, y pasa a llamarse Unigraphics Solutions EDS.</a:t>
            </a:r>
          </a:p>
          <a:p>
            <a:pPr lvl="0"/>
            <a:r>
              <a:rPr/>
              <a:t>Termina la adquisición de la parte de CAD/CAM mecánico de Intergraph, Solid Edge y EMS.</a:t>
            </a:r>
          </a:p>
          <a:p>
            <a:pPr lvl="0"/>
            <a:r>
              <a:rPr/>
              <a:t>Unigraphics Solutions EDS se convierte en la primera organización de CAD/CAM/CAE/PDM en recibir el certificado ISO 9001.</a:t>
            </a:r>
          </a:p>
          <a:p>
            <a:pPr lvl="0"/>
            <a:r>
              <a:rPr/>
              <a:t>Autodesk lanza 3D Studio MAX version 2.5, Autodesk Architectural Desktop y AutoCAD Mechanical (herramienta mecánica para integrar en AutoCAD 14).</a:t>
            </a:r>
          </a:p>
          <a:p>
            <a:pPr lvl="0"/>
            <a:r>
              <a:rPr/>
              <a:t>Solid Edge version 3.</a:t>
            </a:r>
          </a:p>
          <a:p>
            <a:pPr lvl="0"/>
            <a:r>
              <a:rPr/>
              <a:t>Solid Works 98.</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1999</a:t>
            </a:r>
          </a:p>
        </p:txBody>
      </p:sp>
      <p:sp>
        <p:nvSpPr>
          <p:cNvPr id="3" name="Content Placeholder 2"/>
          <p:cNvSpPr>
            <a:spLocks noGrp="1"/>
          </p:cNvSpPr>
          <p:nvPr>
            <p:ph idx="1"/>
          </p:nvPr>
        </p:nvSpPr>
        <p:spPr/>
        <p:txBody>
          <a:bodyPr/>
          <a:lstStyle/>
          <a:p>
            <a:pPr lvl="0"/>
            <a:r>
              <a:rPr/>
              <a:t>Unigraphics Solutions compra la empresa alemana de tecnología punta dCADE.</a:t>
            </a:r>
          </a:p>
          <a:p>
            <a:pPr lvl="0"/>
            <a:r>
              <a:rPr/>
              <a:t>Dassault systemes presenta CATIA Versión 5 para sistemas basados en Windows NT y UNIX.</a:t>
            </a:r>
          </a:p>
          <a:p>
            <a:pPr lvl="0"/>
            <a:r>
              <a:rPr/>
              <a:t>Dassault Systemes compra SAFEWORK, que pasa a encargarse de la infraestructura avanzada del modelado humano para la arquitectura de la V5. Adquiere también Smart Solutions Ltd. Esta empresa se había convertido en líder de soporte y desarrollo de soluciones PDM para pequeñas y medianas empresas; por lo que así se complementa ENOVIA que está orientado a grandes empresas.</a:t>
            </a:r>
          </a:p>
          <a:p>
            <a:pPr lvl="0"/>
            <a:r>
              <a:rPr/>
              <a:t>VectorWorks surge como sustituto de MiniCAD.</a:t>
            </a:r>
          </a:p>
          <a:p>
            <a:pPr lvl="0"/>
            <a:r>
              <a:rPr/>
              <a:t>Pro/Engineer 2000i</a:t>
            </a:r>
          </a:p>
          <a:p>
            <a:pPr lvl="0"/>
            <a:r>
              <a:rPr/>
              <a:t>Parametric Technology compra Computervision y su producto CADDS 5.</a:t>
            </a:r>
          </a:p>
          <a:p>
            <a:pPr lvl="0" indent="0" marL="0">
              <a:buNone/>
            </a:pPr>
            <a:r>
              <a:rPr/>
              <a:t>A principios del siglo XXI, el uso de estas técnicas ha dejado de ser una opción dentro del ámbito industrial, para convertirse en la única opción existente. Podemos afirmar por tanto que el CAD/CAM es una tecnología de supervivencia. Solo aquellas empresas que lo usan de forma eficiente son capaces de mantenerse en un mercado cada vez más competitivo.</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Siglo XXI</a:t>
            </a:r>
          </a:p>
        </p:txBody>
      </p:sp>
      <p:sp>
        <p:nvSpPr>
          <p:cNvPr id="3" name="Content Placeholder 2"/>
          <p:cNvSpPr>
            <a:spLocks noGrp="1"/>
          </p:cNvSpPr>
          <p:nvPr>
            <p:ph idx="1"/>
          </p:nvPr>
        </p:nvSpPr>
        <p:spPr/>
        <p:txBody>
          <a:bodyPr/>
          <a:lstStyle/>
          <a:p>
            <a:pPr lvl="0"/>
            <a:r>
              <a:rPr/>
              <a:t>ACIS v6.0 de Spatial.</a:t>
            </a:r>
          </a:p>
          <a:p>
            <a:pPr lvl="0"/>
            <a:r>
              <a:rPr/>
              <a:t>Eagle Point, el máximo proveedor de software para aplicaciones AEC anuncia Eagle Point 2000.</a:t>
            </a:r>
          </a:p>
          <a:p>
            <a:pPr lvl="0"/>
            <a:r>
              <a:rPr/>
              <a:t>Parametric Technology Corp. anuncia InPart Mechanical, la mayor biblioteca de elementos 3D CAD, con más de un millón de elementos.</a:t>
            </a:r>
          </a:p>
          <a:p>
            <a:pPr lvl="0"/>
            <a:r>
              <a:rPr/>
              <a:t>Autodesk inicia la venta por Internet de AutoCAD 2000.</a:t>
            </a:r>
          </a:p>
          <a:p>
            <a:pPr lvl="0"/>
            <a:r>
              <a:rPr/>
              <a:t>REALVIZ líder en tecnología para el proceso de imágenes anuncia ImageModeler, software para la creación de modelos 3D realistas mediante el modelado a partir de fotografías, videos o imágenes estáticas.</a:t>
            </a:r>
          </a:p>
          <a:p>
            <a:pPr lvl="0"/>
            <a:r>
              <a:rPr/>
              <a:t>Alibre Inc. anuncia su programa de CAD mecánico Alibre Design, que permite a sus usuarios utilizar Internet como plataforma de colaboración para el diseño y desarrollo de sus productos.</a:t>
            </a:r>
          </a:p>
          <a:p>
            <a:pPr lvl="0"/>
            <a:r>
              <a:rPr/>
              <a:t>Dassault Systemes anuncia la disponibilidad de CATIA Solutions Version 5 Release 3 para plataformas bajo Microsoft Windows 2000.</a:t>
            </a:r>
          </a:p>
          <a:p>
            <a:pPr lvl="0"/>
            <a:r>
              <a:rPr/>
              <a:t>Parametric Technologies Corp. lanza dos actualizaciones para sus i-Series de soluciones flexibles de ingeniería: Pro/MECHANICA 2000i2 y Pro/DESKTOP 2000i2.</a:t>
            </a:r>
          </a:p>
          <a:p>
            <a:pPr lvl="0"/>
            <a:r>
              <a:rPr/>
              <a:t>SDRC crea SDRC Imageware Version 10, un conjunto de software que permite diseñar, construir e inspeccionar productos con superficies libres de gran calidad en menos tiempo. Es un avanzado modelador de superficies 3D.</a:t>
            </a:r>
          </a:p>
          <a:p>
            <a:pPr lvl="0"/>
            <a:r>
              <a:rPr/>
              <a:t>Bentley Systems anuncia una nueva tecnología de visualización, “Particle tracing” que proporciona soluciones de iluminación foto realistas para grandes modelos creados por arquitectos, diseñadores de interiores y diseñadores de plantas.</a:t>
            </a:r>
          </a:p>
          <a:p>
            <a:pPr lvl="0"/>
            <a:r>
              <a:rPr/>
              <a:t>Spatial Inc. lanza ACIS 3D v6.2. Esta será la última versión ACIS bajo el nombre de Spatial porque Dassault Systemes compra el producto, en una operación inesperada que sorprende al mundo del CAD.</a:t>
            </a:r>
          </a:p>
          <a:p>
            <a:pPr lvl="0"/>
            <a:r>
              <a:rPr/>
              <a:t>Mechanical Desktop Release 5 incorpora el software AutoCAD 2000i. El paquete añade además 1.2 millones de elementos y operaciones estándar 2D y 3D prediseñadas.</a:t>
            </a:r>
          </a:p>
          <a:p>
            <a:pPr lvl="0"/>
            <a:r>
              <a:rPr/>
              <a:t>Parametric Technologies Corp. anuncia una nueva versión de CADDS 5i, la release 11, que ofrece una mayor integración con el resto de paquetes de la compañía, tales como Pro/ENGINEER.</a:t>
            </a:r>
          </a:p>
          <a:p>
            <a:pPr lvl="0"/>
            <a:r>
              <a:rPr/>
              <a:t>CADKEY # 19, disponible para Windows 95,98, NT y 2000.</a:t>
            </a:r>
          </a:p>
          <a:p>
            <a:pPr lvl="0"/>
            <a:r>
              <a:rPr/>
              <a:t>Dassault Systemes integra Microsoft Visual BASIC para aplicaciones en sus productos SolidWorks, CATIA, SmarTeam, ENOVIA y DELMIA.</a:t>
            </a:r>
          </a:p>
          <a:p>
            <a:pPr lvl="0"/>
            <a:r>
              <a:rPr/>
              <a:t>Año 2001. Presentación versión AutoCAD 2002. Destacan la función de asociación de funciones de las dimensiones en el dibujo, el editor gráfico de atributos. la definición de bloques y un conversor de capas asociado a la funcionalidad del gestor de normas. Orientación hacia Internet.</a:t>
            </a:r>
          </a:p>
          <a:p>
            <a:pPr lvl="0" indent="0" marL="0">
              <a:spcBef>
                <a:spcPts val="3000"/>
              </a:spcBef>
              <a:buNone/>
            </a:pPr>
            <a:r>
              <a:rPr b="1"/>
              <a:t>El mercado de los programas de alta gama se lo reparten cuatro compañías: Dassault Systemes con CATIA, Parametric Technologies Corp. Con Pro/ENGINEER y CADDS, SDRC con IDEAS Master Series, y Unigraphics Solutions EDS con Unigraphics.</a:t>
            </a:r>
          </a:p>
          <a:p>
            <a:pPr lvl="0" indent="0" marL="0">
              <a:spcBef>
                <a:spcPts val="3000"/>
              </a:spcBef>
              <a:buNone/>
            </a:pPr>
            <a:r>
              <a:rPr b="1"/>
              <a:t># COMPONENTES DEL CAD/CAM</a:t>
            </a:r>
          </a:p>
          <a:p>
            <a:pPr lvl="0" indent="0" marL="0">
              <a:spcBef>
                <a:spcPts val="3000"/>
              </a:spcBef>
              <a:buNone/>
            </a:pPr>
            <a:r>
              <a:rPr b="1"/>
              <a:t># CAD/CAM DESDE EL PUNTO DE VISTA INDUSTRIAL</a:t>
            </a:r>
          </a:p>
          <a:p>
            <a:pPr lvl="0" indent="0" marL="0">
              <a:spcBef>
                <a:spcPts val="3000"/>
              </a:spcBef>
              <a:buNone/>
            </a:pPr>
            <a:r>
              <a:rPr b="1"/>
              <a:t># SITUACIÓN ACTUAL Y PERSPECTIVAS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2026-02-10T17:13:48Z</dcterms:created>
  <dcterms:modified xsi:type="dcterms:W3CDTF">2026-02-10T17:13:48Z</dcterms:modified>
</cp:coreProperties>
</file>

<file path=docProps/custom.xml><?xml version="1.0" encoding="utf-8"?>
<Properties xmlns="http://schemas.openxmlformats.org/officeDocument/2006/custom-properties" xmlns:vt="http://schemas.openxmlformats.org/officeDocument/2006/docPropsVTypes"/>
</file>